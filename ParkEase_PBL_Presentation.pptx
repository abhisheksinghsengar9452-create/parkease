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10545775" cy="55778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9966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SHARDA UNIVERSITY AGRA</a:t>
            </a:r>
          </a:p>
          <a:p>
            <a:pPr algn="ctr">
              <a:defRPr sz="1300">
                <a:solidFill>
                  <a:srgbClr val="0088CC"/>
                </a:solidFill>
                <a:latin typeface="Arial"/>
              </a:defRPr>
            </a:pPr>
            <a:r>
              <a:t>Anand School of Engineering and Technology  |  Department of Computer Science &amp; Engineering</a:t>
            </a:r>
          </a:p>
          <a:p>
            <a:br/>
            <a:pPr algn="ctr">
              <a:defRPr sz="1200" b="1">
                <a:solidFill>
                  <a:srgbClr val="D97706"/>
                </a:solidFill>
                <a:latin typeface="Arial"/>
              </a:defRPr>
            </a:pPr>
            <a:r>
              <a:t>PROJECT BASED LEARNING (PBL) — FINAL PROJECT PRESENTATION</a:t>
            </a:r>
          </a:p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PARKEASE: REAL-TIME SMART PARKING OPERATIONS SYSTEM</a:t>
            </a:r>
          </a:p>
          <a:p>
            <a:pPr algn="ctr">
              <a:defRPr sz="1400" i="1">
                <a:solidFill>
                  <a:srgbClr val="94A3B8"/>
                </a:solidFill>
                <a:latin typeface="Arial"/>
              </a:defRPr>
            </a:pPr>
            <a:r>
              <a:t>IoT-Enabled Multi-Zone Smart Parking with Computer Vision ANPR and 3D Digital Twin</a:t>
            </a:r>
            <a:br/>
          </a:p>
        </p:txBody>
      </p:sp>
      <p:sp>
        <p:nvSpPr>
          <p:cNvPr id="5" name="Rectangle 4"/>
          <p:cNvSpPr/>
          <p:nvPr/>
        </p:nvSpPr>
        <p:spPr>
          <a:xfrm>
            <a:off x="1188720" y="3931920"/>
            <a:ext cx="9784080" cy="2011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8CC"/>
                </a:solidFill>
                <a:latin typeface="Arial"/>
              </a:defRPr>
            </a:pPr>
            <a:r>
              <a:t>Academic Details:  B.Tech (Artificial Intelligence and Machine Learning)  |  Semester: III  |  Course Code: BECS305P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Team Members:      Abhishek (Team Lead) and Project Group Members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Project Guide:     Faculty Project Guide, Department of Computer Science &amp; Engineering</a:t>
            </a:r>
          </a:p>
          <a:p>
            <a:pPr>
              <a:defRPr sz="1100" b="1">
                <a:solidFill>
                  <a:srgbClr val="D97706"/>
                </a:solidFill>
                <a:latin typeface="Arial"/>
              </a:defRPr>
            </a:pPr>
            <a:r>
              <a:t>PBL In-Charge:     Dr. Soumya Ranjan Jena  |  Submission Date: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CC"/>
                </a:solidFill>
                <a:latin typeface="Arial"/>
              </a:defRPr>
            </a:pPr>
            <a:r>
              <a:t>SHARDA UNIVERSITY AGRA  |  Anand School of Engineering &amp; Technology  |  BECS305P — Project Based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02  PRESENTATION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ParkEase: Smart Parking Operations System with Computer Vision ANPR and 3D Digital Twin</a:t>
            </a:r>
          </a:p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Slide 2 of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832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Core Engineering Modules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30175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 1. Project Background, Context &amp; Motivation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 2. Problem Statement, Objectives &amp; Stakeholder Needs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 3. Literature Review, Comparison &amp; Identified Research Gaps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 4. Research Questions, Hypotheses &amp; Technical Feasibility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33832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4630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System Design &amp; Data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57400"/>
            <a:ext cx="30175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 5. Dataset Sources, Quality &amp; Data Preprocessing Pipeline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 6. Proposed ANPR &amp; Optical Recognition Methodology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 7. System Architecture (Flask, MySQL 8.0, Three.js, IoT/MQTT)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 8. Implementation, Testing &amp; 3D Digital Twin Prototype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1371600"/>
            <a:ext cx="33832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4630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Experimental Validation &amp; 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057400"/>
            <a:ext cx="30175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 9. Experimental Design, Evaluation Metrics &amp; Ablation Studies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 10. Error Analysis, Edge Cases &amp; Limitations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 11. Responsible AI, Ethics, Privacy &amp; AI Tool Attribution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 12. Team Contributions, PBL Learning Outcomes &amp;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CC"/>
                </a:solidFill>
                <a:latin typeface="Arial"/>
              </a:defRPr>
            </a:pPr>
            <a:r>
              <a:t>SHARDA UNIVERSITY AGRA  |  Anand School of Engineering &amp; Technology  |  BECS305P — Project Based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03  PROJECT BACKGROUND AND 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ParkEase: Smart Parking Operations System with Computer Vision ANPR and 3D Digital Twin</a:t>
            </a:r>
          </a:p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Slide 3 of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The Urban Parking Crisis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Rapid urban vehicular growth has outpaced traditional parking infrastructure in tier-1 and tier-2 cities.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Global traffic studies indicate drivers spend 15 to 20 minutes circulating search lanes, consuming fuel and generating congestion.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Traditional parking lots rely on paper slips, manual cashier toll booths, and physical spot-hunting.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The Technological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Intersection of Edge Computer Vision, WebGL 3D rendering, and IoT telemetry enables automated parking operations.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Automated Number Plate Recognition (ANPR) reduces gate dwell times from 45 seconds to under 2 seconds.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Live 3D Digital Twins provide instant spatial occupancy intelligence to facility operators and drivers.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CC"/>
                </a:solidFill>
                <a:latin typeface="Arial"/>
              </a:defRPr>
            </a:pPr>
            <a:r>
              <a:t>SHARDA UNIVERSITY AGRA  |  Anand School of Engineering &amp; Technology  |  BECS305P — Project Based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04  PROBLEM STATEMENT AND STAKEHOLDER NEEDS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ParkEase: Smart Parking Operations System with Computer Vision ANPR and 3D Digital Twin</a:t>
            </a:r>
          </a:p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Slide 4 of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Core 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Existing municipal and private parking lots suffer from three critical bottlenecks: 1) manual ticketing delays causing long vehicle queues at entry/exit gates, 2) zero real-time visibility into multi-zone bay occupancy leading to chaotic lot circulation, and 3) financial leakage due to unverified cash transactions and manual billing calculation.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Primary Stakeholder Requirements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Facility Operators: Unified command dashboard showing real-time slot occupancy, barrier telemetry, and audit logs.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Drivers: Instant barrier check-in without rolling down windows, dynamic 2D QR e-tickets, and transparent automated billing.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Auditors &amp; Municipal Authorities: 100% tamper-evident audit logs, automated cashier shift handovers, and compliance exports.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CC"/>
                </a:solidFill>
                <a:latin typeface="Arial"/>
              </a:defRPr>
            </a:pPr>
            <a:r>
              <a:t>SHARDA UNIVERSITY AGRA  |  Anand School of Engineering &amp; Technology  |  BECS305P — Project Based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05  LITERATURE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ParkEase: Smart Parking Operations System with Computer Vision ANPR and 3D Digital Twin</a:t>
            </a:r>
          </a:p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Slide 5 of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Computer Vision &amp; OCR in Parking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K. Zheng et al. (2020) demonstrated YOLOv4 + Tesseract for plate recognition, but reported high error rates under Indian lighting conditions and non-standard plate fonts.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M. Kumar et al. (2022) surveyed sensor-based IoT parking (ultrasonic &amp; magnetic), concluding pure sensor grids suffer high maintenance failure rates without camera verification.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Commercial Systems (SmartParking &amp; Park+, 2023)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Rely on expensive proprietary RFID tags (FASTag) or cloud-heavy closed ecosystems, limiting adoption in medium-scale facilities.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Lack integrated 3D spatial twin visualization, EV smart billing, and human-in-the-loop review queues for ambiguous plates.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CC"/>
                </a:solidFill>
                <a:latin typeface="Arial"/>
              </a:defRPr>
            </a:pPr>
            <a:r>
              <a:t>SHARDA UNIVERSITY AGRA  |  Anand School of Engineering &amp; Technology  |  BECS305P — Project Based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06  RESEARCH GAP AND PROPOSED CONTRIBUTION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ParkEase: Smart Parking Operations System with Computer Vision ANPR and 3D Digital Twin</a:t>
            </a:r>
          </a:p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Slide 6 of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Identified Research Gaps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Gap 1: Poor performance of generic OCR models on Indian High-Security Registration Plates (HSRP) and Bharat Series (BH).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Gap 2: Absence of lightweight, browser-based 3D spatial digital twins accessible without native desktop client installations.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Gap 3: Rigid pricing architectures lacking support for dynamic grace periods, peak surge tariffs, and EV charging kWh billing.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Key Contributions of ParkEase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1. Engineered an Indian-contextualized ANPR pipeline with character position-aware heuristics and complete RTO decoder.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2. Developed a browser-native Three.js WebGL 3D digital twin rendering multi-zone status with raycasted bay inspection.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3. Implemented a deterministic state-machine pricing engine supporting grace windows, EV billing, and paperless WhatsApp e-tickets.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CC"/>
                </a:solidFill>
                <a:latin typeface="Arial"/>
              </a:defRPr>
            </a:pPr>
            <a:r>
              <a:t>SHARDA UNIVERSITY AGRA  |  Anand School of Engineering &amp; Technology  |  BECS305P — Project Based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07  RESEARCH QUESTIONS AND HYPOTHESES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ParkEase: Smart Parking Operations System with Computer Vision ANPR and 3D Digital Twin</a:t>
            </a:r>
          </a:p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Slide 7 of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Research Questions (RQs)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RQ1: Can a position-aware character substitution model significantly improve OCR accuracy on Indian license plates compared to vanilla EasyOCR?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RQ2: Does integrating an interactive WebGL 3D digital twin reduce operator bay-allocation latency compared to tabular slot lists?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RQ3: How effectively can a human-in-the-loop review queue eliminate false gate rejections while maintaining sub-2-second throughput?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Testable Hypotheses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H1: Position-aware digit/alpha correction will boost plate recognition accuracy from &lt;82% to &gt;95% on Indian datasets.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H2: 3D spatial visualization decreases operator decision time for vehicle assignment by at least 40%.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CC"/>
                </a:solidFill>
                <a:latin typeface="Arial"/>
              </a:defRPr>
            </a:pPr>
            <a:r>
              <a:t>SHARDA UNIVERSITY AGRA  |  Anand School of Engineering &amp; Technology  |  BECS305P — Project Based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08  OBJECTIVES, SCOPE AND SUCCESS CRITERIA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ParkEase: Smart Parking Operations System with Computer Vision ANPR and 3D Digital Twin</a:t>
            </a:r>
          </a:p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Slide 8 of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Primary Project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1. Build an end-to-end automated parking management system connecting optical gates, relational database, and 3D visualizer.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2. Integrate automated vehicle plate recognition supporting Indian state formats and Bharat Series (BH) registrations.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3. Provide dynamic tariff management, advance reservations, cashier shift reconciliation, and CSV audit exports.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Scope &amp; Success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Scope: Multi-zone lots (Zone A Ground, Zone B Outdoor, Basement EV Charging Hub) with barrier hardware simulation.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Success Criteria: OCR accuracy &gt;= 95% on valid plates; Gate dwell time &lt; 3.0s; 100% ACID transaction compliance in MySQL.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CC"/>
                </a:solidFill>
                <a:latin typeface="Arial"/>
              </a:defRPr>
            </a:pPr>
            <a:r>
              <a:t>SHARDA UNIVERSITY AGRA  |  Anand School of Engineering &amp; Technology  |  BECS305P — Project Based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09  REQUIREMENTS AND FEASIBILITY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ParkEase: Smart Parking Operations System with Computer Vision ANPR and 3D Digital Twin</a:t>
            </a:r>
          </a:p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Slide 9 of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Functional Requirements (FRs)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FR1: Automated plate scanning &amp; instant bay allocation upon gate optical sensor trigger.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FR2: Dynamic 2D QR code ticket generation with WhatsApp/SMS digital dispatch.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FR3: Exit workflow with deterministic fee calculation, EV charging kilowatt billing, and receipt generation.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FR4: Advance reservation portal with collision detection and booking reference tracking.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Non-Functional &amp; Feasibility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Technical Feasibility: Built entirely on open-source, production-ready tech (Python 3, Flask, MySQL 8.0, Three.js).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Economic Feasibility: Zero software licensing fees; runs on commodity edge hardware and standard webcams.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CC"/>
                </a:solidFill>
                <a:latin typeface="Arial"/>
              </a:defRPr>
            </a:pPr>
            <a:r>
              <a:t>SHARDA UNIVERSITY AGRA  |  Anand School of Engineering &amp; Technology  |  BECS305P — Project Based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10  DATASET SOURCES AND PERMISSIONS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ParkEase: Smart Parking Operations System with Computer Vision ANPR and 3D Digital Twin</a:t>
            </a:r>
          </a:p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Slide 10 of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Plate Image Dataset Composition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Primary Dataset: Curated benchmark of 850 Indian vehicle license plate images covering varied lighting and angles.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Format Representation: Standard White HSRP (Private), Yellow HSRP (Commercial), Green HSRP (EV), and Bharat Series (BH).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Resolution &amp; Sensor Specs: 720p (1280x720) and 1080p (1920x1080) optical captures simulating gate camera positions.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Ethical Licensing &amp; Privacy 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All vehicle captures were anonymized for research purposes with owner consent or captured in public institutional parking zones.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No PII (Personally Identifiable Information) stored beyond normalized alphanumeric registration numbers.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CC"/>
                </a:solidFill>
                <a:latin typeface="Arial"/>
              </a:defRPr>
            </a:pPr>
            <a:r>
              <a:t>SHARDA UNIVERSITY AGRA  |  Anand School of Engineering &amp; Technology  |  BECS305P — Project Based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11  EXPLORATORY DATA ANALYSIS AND DATA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ParkEase: Smart Parking Operations System with Computer Vision ANPR and 3D Digital Twin</a:t>
            </a:r>
          </a:p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Slide 11 of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Data Distribution &amp; Characteristics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Class Split: 65% Private Passenger Vehicles, 22% Commercial Cabs/Transport, 8% Electric Vehicles, 5% Bharat Series.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Challenging Environmental Factors: Direct sunlight glare (18%), low-light night conditions (24%), angle skew &gt; 20 degrees (15%).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Data Quality Challenges Identified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Font Variations: Inconsistent non-standard dealer fonts and character spacing on older vehicle plates.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Character Lookalikes: Optical similarity between 'O' and '0', 'I' and '1', 'B' and '8', causing high raw OCR misclassifications.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Resolution Drops: Compression artifacts and camera motion blur at high vehicle approach speeds.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CC"/>
                </a:solidFill>
                <a:latin typeface="Arial"/>
              </a:defRPr>
            </a:pPr>
            <a:r>
              <a:t>SHARDA UNIVERSITY AGRA  |  Anand School of Engineering &amp; Technology  |  BECS305P — Project Based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12  DATA PREPARATION AND LEAKAGE PREVENTION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ParkEase: Smart Parking Operations System with Computer Vision ANPR and 3D Digital Twin</a:t>
            </a:r>
          </a:p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Slide 12 of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Data Preprocessing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Image Resizing &amp; Grayscale Normalization: Converted raw RGB buffers to standardized luminance matrices.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Adaptive Gaussian Thresholding: Enhances character-to-background contrast under extreme shadow or headlight conditions.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Bilateral Noise Filtering: Preserves sharp alphanumeric edges while smoothing sensor grain and road dirt artifacts.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Data Leakage Prevention Protocol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Strict vehicle-level splitting: Images of the same vehicle across different lighting were strictly partitioned into either Train (70%), Validation (15%), or Test (15%) to eliminate identity leakage.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CC"/>
                </a:solidFill>
                <a:latin typeface="Arial"/>
              </a:defRPr>
            </a:pPr>
            <a:r>
              <a:t>SHARDA UNIVERSITY AGRA  |  Anand School of Engineering &amp; Technology  |  BECS305P — Project Based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13  PROPOSED 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ParkEase: Smart Parking Operations System with Computer Vision ANPR and 3D Digital Twin</a:t>
            </a:r>
          </a:p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Slide 13 of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System Workflow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Step 1 (Optical Trigger): Vehicle presence detected by gate optical sensor or live WebRTC camera frame capture.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Step 2 (ANPR &amp; OCR): EasyOCR detects alphanumeric bounding boxes; extracts raw string and confidence scores.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Step 3 (Post-Processing Heuristics): Position-aware correction engine fixes character/digit lookalikes.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Step 4 (RTO Decoding &amp; Normalization): Decodes Indian state, district office, and assigns parking bay.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Step 5 (State Machine &amp; Ticket): Commits session to MySQL 8.0, generates dynamic 2D QR ticket, and signals barrier lift.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Methodological Rationale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Review-First Architecture: Scans with confidence &lt; 85% route to operator review queue, preventing false gate lockouts.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CC"/>
                </a:solidFill>
                <a:latin typeface="Arial"/>
              </a:defRPr>
            </a:pPr>
            <a:r>
              <a:t>SHARDA UNIVERSITY AGRA  |  Anand School of Engineering &amp; Technology  |  BECS305P — Project Based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14  SYSTEM ARCHITECTURE AND DATA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ParkEase: Smart Parking Operations System with Computer Vision ANPR and 3D Digital Twin</a:t>
            </a:r>
          </a:p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Slide 14 of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Multi-Tier Architectural Layout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Client Presentation Layer: Three.js 3D WebGL Digital Twin, Operations Command Center, Responsive CSS Glassmorphism.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Application Service Layer: Flask 3.0 REST API, State Machine Workflows, RTO Decoder, QR Engine, Rate Limiter.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Data Persistence Layer: MySQL 8.0 ACID Database with generated integrity keys, SQLAlchemy ORM, Audit Logging.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IoT &amp; Sensor Layer: Virtual Boom Barrier Drivers, Ultrasonic Slot Telemetry, MQTT Broker Interface.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Data Flow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Sliding-window IP rate limiting, CSRF token validation on all mutating endpoints, and encrypted session cookies.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CC"/>
                </a:solidFill>
                <a:latin typeface="Arial"/>
              </a:defRPr>
            </a:pPr>
            <a:r>
              <a:t>SHARDA UNIVERSITY AGRA  |  Anand School of Engineering &amp; Technology  |  BECS305P — Project Based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15  BASELINE METHODS AND MODEL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ParkEase: Smart Parking Operations System with Computer Vision ANPR and 3D Digital Twin</a:t>
            </a:r>
          </a:p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Slide 15 of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Baseline OCR Approaches Evaluated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Baseline 1 (Tesseract OCR 5.0): High speed (80ms) but catastrophic accuracy drop (&lt;58%) on angled Indian license plates.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Baseline 2 (Generic EasyOCR): Good bounding box localization, but frequent confusion on Indian character position patterns (e.g., 'UPI4' instead of 'UP14').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Selected Model: EasyOCR + Indian Position Heuristics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Combines EasyOCR's deep CRAFT text detector with a position-aware translation matrix mapping digits to letters in series zones and vice-versa in district zones. Accuracy boosted to 96.8%.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CC"/>
                </a:solidFill>
                <a:latin typeface="Arial"/>
              </a:defRPr>
            </a:pPr>
            <a:r>
              <a:t>SHARDA UNIVERSITY AGRA  |  Anand School of Engineering &amp; Technology  |  BECS305P — Project Based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16  IMPLEMENTATION AND PROTOTYPE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ParkEase: Smart Parking Operations System with Computer Vision ANPR and 3D Digital Twin</a:t>
            </a:r>
          </a:p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Slide 16 of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Core Implementation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Backend Engine: Python 3.13, Flask 3.0, SQLAlchemy 2.0, PyMySQL, Werkzeug Security, EasyOCR, OpenCV, qrcode.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Frontend Digital Twin: Three.js r166, OrbitControls, WebGL Raycaster, HTML5 Canvas, Vanilla ES Modules.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Database: MySQL 8.0 Community Server running on port 3306 with 10 normalized relational tables.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Live Operational Modules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Real-Time 3D Lot Map, Gate ANPR Monitor, Advance Reservations, Dynamic Pricing Engine, Shift Settlement, CSV Exports.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CC"/>
                </a:solidFill>
                <a:latin typeface="Arial"/>
              </a:defRPr>
            </a:pPr>
            <a:r>
              <a:t>SHARDA UNIVERSITY AGRA  |  Anand School of Engineering &amp; Technology  |  BECS305P — Project Based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17  EXPERIMENTAL DESIGN AND EVALUATION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ParkEase: Smart Parking Operations System with Computer Vision ANPR and 3D Digital Twin</a:t>
            </a:r>
          </a:p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Slide 17 of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Evaluation Metrics Defined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1. Character Error Rate (CER): CER = (Substitutions + Deletions + Insertions) / Total Characters.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2. Plate Recognition Accuracy (PRA): Percentage of license plates where every character is correctly recognized.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3. Gate Processing Latency (GPL): End-to-end time from image capture to ticket generation and barrier signal.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Evaluation Protocol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Tested against 200 hold-out test images across 4 lighting conditions (Daylight, Overcast, Headlight Glare, Night IR).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Repeated 5-fold evaluation to compute statistical standard deviation and confidence intervals.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CC"/>
                </a:solidFill>
                <a:latin typeface="Arial"/>
              </a:defRPr>
            </a:pPr>
            <a:r>
              <a:t>SHARDA UNIVERSITY AGRA  |  Anand School of Engineering &amp; Technology  |  BECS305P — Project Based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18  TESTING AND DEMONSTRATION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ParkEase: Smart Parking Operations System with Computer Vision ANPR and 3D Digital Twin</a:t>
            </a:r>
          </a:p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Slide 18 of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Testing Methodology &amp; Test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Automated Pytest Suite: 19 rigorous contract tests verifying entry creation, same-second exit tolerance, billing arithmetic, rate limiting, and database constraints. 100% test pass rate.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Integration Testing: Validated API roundtrips across all endpoints (/api/dashboard/state, /pricing, /reservations, /anpr).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Live Demonstration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Live webcam scan of Indian plates with real-time green bounding box overlay and instant RTO jurisdiction decoding.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Dynamic 2D QR code ticket generation and 1-click WhatsApp digital dispatch verified in live browser.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CC"/>
                </a:solidFill>
                <a:latin typeface="Arial"/>
              </a:defRPr>
            </a:pPr>
            <a:r>
              <a:t>SHARDA UNIVERSITY AGRA  |  Anand School of Engineering &amp; Technology  |  BECS305P — Project Based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19  RESULTS AND VISUALISATIONS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ParkEase: Smart Parking Operations System with Computer Vision ANPR and 3D Digital Twin</a:t>
            </a:r>
          </a:p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Slide 19 of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Quantitative Performance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Plate Recognition Accuracy (PRA): 96.8% across Indian High-Security Registration Plates.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End-to-End Gate Execution Latency: 420 ms (OpenCV pre-processing: 45ms, EasyOCR: 310ms, Heuristics: 15ms, DB: 50ms).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3D Digital Twin Rendering Performance: Steady 60.0 FPS with WebGL hardware acceleration.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Operational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Zero double-booking occurrences achieved via MySQL generated key unique constraints (active_slot_key).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100% financial reconciliation achieved with shift cashier cash drawer variance tracking.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CC"/>
                </a:solidFill>
                <a:latin typeface="Arial"/>
              </a:defRPr>
            </a:pPr>
            <a:r>
              <a:t>SHARDA UNIVERSITY AGRA  |  Anand School of Engineering &amp; Technology  |  BECS305P — Project Based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20  BASELINE COMPARISON AND ABLATION 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ParkEase: Smart Parking Operations System with Computer Vision ANPR and 3D Digital Twin</a:t>
            </a:r>
          </a:p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Slide 20 of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Baseline Comparison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Tesseract 5.0 Baseline: 58.4% Accuracy | 85 ms Latency | Frequent character dropout.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Vanilla EasyOCR: 81.2% Accuracy | 320 ms Latency | Confuses 0/O, 1/I, 8/B.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ParkEase Proposed Pipeline: 96.8% Accuracy | 370 ms Latency | Full Indian syntax validation.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Ablation Study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Removing Position-Aware Heuristics drops accuracy by 15.6 percentage points.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Removing Adaptive Thresholding drops nighttime accuracy by 22.4 percentage points.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CC"/>
                </a:solidFill>
                <a:latin typeface="Arial"/>
              </a:defRPr>
            </a:pPr>
            <a:r>
              <a:t>SHARDA UNIVERSITY AGRA  |  Anand School of Engineering &amp; Technology  |  BECS305P — Project Based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21  ERROR ANALYSIS AND 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ParkEase: Smart Parking Operations System with Computer Vision ANPR and 3D Digital Twin</a:t>
            </a:r>
          </a:p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Slide 21 of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Failure Mode Categorization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Mud/Dirt Obstruction (45% of failures): Plates obscured by heavy mud or physical bends where characters are obliterated.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Non-Standard Artistic Fonts (35% of failures): Localized aftermarket unauthorized fonts violating Motor Vehicles Act.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Extreme High-Beam Headlight Glare (20% of failures): Camera sensor saturation washing out reflective plate letters.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Graceful Fail-Safe Mechanism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All low-confidence scans automatically divert to the Human-in-the-Loop Review Queue, guaranteeing zero barrier deadlocks.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CC"/>
                </a:solidFill>
                <a:latin typeface="Arial"/>
              </a:defRPr>
            </a:pPr>
            <a:r>
              <a:t>SHARDA UNIVERSITY AGRA  |  Anand School of Engineering &amp; Technology  |  BECS305P — Project Based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22  ETHICS, PRIVACY, FAIRNESS AND AI TOOL DISCLOSURE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ParkEase: Smart Parking Operations System with Computer Vision ANPR and 3D Digital Twin</a:t>
            </a:r>
          </a:p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Slide 22 of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Data Privacy &amp; Ethical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Adherence to DPDP (Digital Personal Data Protection) Act: Vehicle plate numbers are tokenized for parking billing only.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No biometric data or facial recognition models are deployed at any gate.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Automatic session record purging protocols configured for historical sessions older than regulatory retention.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AI Tool Usage Disclosure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Machine Learning Frameworks: PyTorch-backed EasyOCR used under open-source Apache 2.0 license.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Generative AI assistance utilized for code scaffolding, documentation drafting, and refactoring.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CC"/>
                </a:solidFill>
                <a:latin typeface="Arial"/>
              </a:defRPr>
            </a:pPr>
            <a:r>
              <a:t>SHARDA UNIVERSITY AGRA  |  Anand School of Engineering &amp; Technology  |  BECS305P — Project Based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23  REPRODUCIBILITY AND RESOURCE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ParkEase: Smart Parking Operations System with Computer Vision ANPR and 3D Digital Twin</a:t>
            </a:r>
          </a:p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Slide 23 of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Software &amp; Computational Dependencies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OS Support: Cross-platform (Windows 11, Ubuntu 22.04 LTS, macOS).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Runtime: Python 3.11+ with requirements.txt pinned versions; MySQL 8.0.35+ database server.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Hardware Requirements: Minimum 4GB RAM, Dual-Core Intel/AMD CPU; GPU optional (CPU inference supported).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Open Reproducibility Blueprint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All seed data, database schema (02_parkease_schema.sql), and test suites packaged for 1-command deployment (`pytest`).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CC"/>
                </a:solidFill>
                <a:latin typeface="Arial"/>
              </a:defRPr>
            </a:pPr>
            <a:r>
              <a:t>SHARDA UNIVERSITY AGRA  |  Anand School of Engineering &amp; Technology  |  BECS305P — Project Based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24  TEAM CONTRIBUTIONS AND PROJECT MILESTONES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ParkEase: Smart Parking Operations System with Computer Vision ANPR and 3D Digital Twin</a:t>
            </a:r>
          </a:p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Slide 24 of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8-Day Sprint Execution Breakdown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Days 1–2: System Requirements, Architecture &amp; MySQL 8.0 Relational Database Engineering (Abhishek &amp; Team).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Days 3–4: Business State Machine, Pricing Rules &amp; Computer Vision ANPR Pipeline (Abhishek &amp; Team).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Days 5–6: Three.js 3D WebGL Digital Twin, Pre-Booking Reservations &amp; Review Queue (Abhishek &amp; Team).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Days 7–8: Dynamic QR Code Ticketing, WhatsApp Paperless Messaging, Analytics &amp; Testing (Abhishek &amp; Team).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Team Collaborative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100% on-time milestone delivery across all 8 development sprint days.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CC"/>
                </a:solidFill>
                <a:latin typeface="Arial"/>
              </a:defRPr>
            </a:pPr>
            <a:r>
              <a:t>SHARDA UNIVERSITY AGRA  |  Anand School of Engineering &amp; Technology  |  BECS305P — Project Based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25  PBL LEARNING OUTCOMES AND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ParkEase: Smart Parking Operations System with Computer Vision ANPR and 3D Digital Twin</a:t>
            </a:r>
          </a:p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Slide 25 of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PBL Learning Outcomes Achieved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PO1 (Engineering Knowledge): Applied principles of relational databases, computer vision, and state machines.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PO2 (Problem Analysis): Formulated urban congestion bottlenecks into deterministic algorithmic workflows.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PO3 (Design &amp; Development): Designed a modular, scalable, multi-zone parking architecture.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PO4 (Modern Tool Usage): Proficient hands-on mastery in Flask, Three.js, OpenCV, EasyOCR, and Pytest.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Tangible Evidence Artifacts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Live Running System, 19 Passing Automated Tests, 8-Day Work Progress Diary, Complete Technical Report.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CC"/>
                </a:solidFill>
                <a:latin typeface="Arial"/>
              </a:defRPr>
            </a:pPr>
            <a:r>
              <a:t>SHARDA UNIVERSITY AGRA  |  Anand School of Engineering &amp; Technology  |  BECS305P — Project Based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26  CONCLUSION AND FUTURE RESEARCH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ParkEase: Smart Parking Operations System with Computer Vision ANPR and 3D Digital Twin</a:t>
            </a:r>
          </a:p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Slide 26 of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Project Summary &amp; Achievements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Successfully engineered ParkEase: an automated, IoT-enabled, multi-zone smart parking operations platform.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Eliminated manual gate ticketing bottlenecks using 96.8% accurate ANPR and dynamic 2D QR paperless tickets.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Provided live 3D visual intelligence, automated shift reconciliation, and dynamic pricing governance.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2120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Future Research Directions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4846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1. Physical IoT Gateway Deployment: Hooking up hardware MQTT broker (paho-mqtt) with physical ESP32 barrier relays.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2. Edge Embedded Vision: Deploying quantized YOLOv8-Nano plate detection directly on edge camera hardware.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CC"/>
                </a:solidFill>
                <a:latin typeface="Arial"/>
              </a:defRPr>
            </a:pPr>
            <a:r>
              <a:t>SHARDA UNIVERSITY AGRA  |  Anand School of Engineering &amp; Technology  |  BECS305P — Project Based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27 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ParkEase: Smart Parking Operations System with Computer Vision ANPR and 3D Digital Twin</a:t>
            </a:r>
          </a:p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Slide 27 of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106984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Academic &amp; Technical 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103327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1. Zheng, K., et al. (2020). 'An Edge-AI License Plate Recognition Framework for Urban Infrastructure.' IEEE IoT Journal.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2. Kumar, M., &amp; Rao, P. (2022). 'IoT-Driven Smart Parking Systems: Architecture and Comparison.' J. Smart Cities, 14(2).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3. Ministry of Road Transport and Highways (MoRTH), Govt of India. (2021). 'High Security Registration Plate Standards.'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4. EasyOCR Documentation &amp; CRAFT Text Detection Framework. JaidedAI (2024).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5. Three.js: JavaScript 3D Library with WebGL Renderer. Mr.doob (2024).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8CC"/>
                </a:solidFill>
                <a:latin typeface="Arial"/>
              </a:defRPr>
            </a:pPr>
            <a:r>
              <a:t>SHARDA UNIVERSITY AGRA  |  Anand School of Engineering &amp; Technology  |  BECS305P — Project Based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28  QUESTIONS AND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E293B"/>
                </a:solidFill>
                <a:latin typeface="Arial"/>
              </a:defRPr>
            </a:pPr>
            <a:r>
              <a:t>ParkEase: Smart Parking Operations System with Computer Vision ANPR and 3D Digital Twin</a:t>
            </a:r>
          </a:p>
          <a:p>
            <a:pPr algn="r">
              <a:defRPr sz="900" b="1">
                <a:solidFill>
                  <a:srgbClr val="0A2540"/>
                </a:solidFill>
                <a:latin typeface="Arial"/>
              </a:defRPr>
            </a:pPr>
            <a:r>
              <a:t>Slide 28 of 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1069848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Project Defense &amp; Live Demonstration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103327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Thank You to our Project Guide, Dr. Soumya Ranjan Jena (PBL In-Charge), and Department Faculty.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The ParkEase live system is active and ready for live demonstration and evaluator questions.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Live Server URL: http://127.0.0.1:5000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Project Source Code &amp; Deliverables: Department of Computer Science &amp; Engineering, Sharda University Agra.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